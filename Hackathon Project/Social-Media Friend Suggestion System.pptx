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24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F1D3-C9AC-A841-AF6A-33D9B8279F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17692C-A7DB-817E-F5FD-EDC9BCB80C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1CFAFE-6B1A-3BC3-54BF-D1093C16B0CA}"/>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5" name="Footer Placeholder 4">
            <a:extLst>
              <a:ext uri="{FF2B5EF4-FFF2-40B4-BE49-F238E27FC236}">
                <a16:creationId xmlns:a16="http://schemas.microsoft.com/office/drawing/2014/main" id="{3458FCEB-C253-6C3C-4589-70F33775A2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C5EA7E-1740-1732-5223-2818E6A3861F}"/>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209960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8CD4-92DC-608F-2E90-3E9B533DC6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CFEB25-A162-AD59-F70D-C2FD995578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D60B20-E6F1-604A-9183-CF31250BA7F3}"/>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5" name="Footer Placeholder 4">
            <a:extLst>
              <a:ext uri="{FF2B5EF4-FFF2-40B4-BE49-F238E27FC236}">
                <a16:creationId xmlns:a16="http://schemas.microsoft.com/office/drawing/2014/main" id="{4A6026F4-F0E2-D4A5-F4DC-B2698A570C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BA6D7B-7CFF-7AF8-2E5F-1C48A6CD23A2}"/>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265619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B383C-E0F3-78EC-06BA-31BCA981BB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1355C6F-9B3C-45EB-85D8-6DCC18D8A0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077177-519C-E305-4BFC-DCA1D7C9E4E3}"/>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5" name="Footer Placeholder 4">
            <a:extLst>
              <a:ext uri="{FF2B5EF4-FFF2-40B4-BE49-F238E27FC236}">
                <a16:creationId xmlns:a16="http://schemas.microsoft.com/office/drawing/2014/main" id="{2361DB37-9BFF-AFF6-6D63-49F6031737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BBABD9-571B-6C98-EB12-0D5924C7B7A6}"/>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137779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0DD78-3C0B-616E-D365-446CB489E1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CD78AA-ABF5-352A-B7D6-EDF40A684A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169E8F-32DA-C22A-A810-E38A7D1ED0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B303635-CCCA-19C1-292C-08F58EEF2306}"/>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6" name="Footer Placeholder 5">
            <a:extLst>
              <a:ext uri="{FF2B5EF4-FFF2-40B4-BE49-F238E27FC236}">
                <a16:creationId xmlns:a16="http://schemas.microsoft.com/office/drawing/2014/main" id="{EDF8FB02-8043-3E40-8CAD-1B553F2F6D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550B01-98DE-5DE1-F925-043FFC962EC7}"/>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291523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B799-B706-0F43-3875-D2C1E7B620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9CC58E-B876-CC95-E513-CC27E819D4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C937F1-52D7-A81D-B550-B5526F7AC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EC40EE5-3B28-B239-43CA-F13809D35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306E6C-A528-78E3-5B7F-6575A5A09F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E8EBF26-967E-1226-FEAF-D0D890F17B59}"/>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8" name="Footer Placeholder 7">
            <a:extLst>
              <a:ext uri="{FF2B5EF4-FFF2-40B4-BE49-F238E27FC236}">
                <a16:creationId xmlns:a16="http://schemas.microsoft.com/office/drawing/2014/main" id="{53113374-83C6-75DA-4431-3BF107D8C5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ED2264-D78A-0D7C-EF12-5D0826E90A80}"/>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176291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4AAE-CB16-B459-22EF-599B0E421A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20F778-5FAC-588A-4050-0C47AFF99C8C}"/>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4" name="Footer Placeholder 3">
            <a:extLst>
              <a:ext uri="{FF2B5EF4-FFF2-40B4-BE49-F238E27FC236}">
                <a16:creationId xmlns:a16="http://schemas.microsoft.com/office/drawing/2014/main" id="{83CF2279-1C1E-05E6-AE36-F587BB394D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A74B779-5E36-1085-CD85-AAD3C3CF211F}"/>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2073364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F2CB92-E9F2-36DE-8A53-7CD2745A5090}"/>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3" name="Footer Placeholder 2">
            <a:extLst>
              <a:ext uri="{FF2B5EF4-FFF2-40B4-BE49-F238E27FC236}">
                <a16:creationId xmlns:a16="http://schemas.microsoft.com/office/drawing/2014/main" id="{047310E6-CC13-F516-C2A4-BDA5320FAC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7EDC79-711F-9189-AB72-3395B0D184D4}"/>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3488562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2000A-912F-B942-BDF1-EDF471C7E4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283E5F-FC83-C890-51EE-2BE935DE81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0E2ED3-94A9-9923-FDD9-18DC7F1546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726B-D492-D005-271F-B2B398C54E31}"/>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6" name="Footer Placeholder 5">
            <a:extLst>
              <a:ext uri="{FF2B5EF4-FFF2-40B4-BE49-F238E27FC236}">
                <a16:creationId xmlns:a16="http://schemas.microsoft.com/office/drawing/2014/main" id="{9A18A4F6-2CFC-7C9A-44A4-F83303EA4A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BCFF51-B89F-46B7-C1F2-6711E8F1C8EA}"/>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1245166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13DDD-798E-FB25-FF77-F5E55752D1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E4C676-4123-76F1-E020-F49D628305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5A594A2-59B6-450D-7531-D1EFB82E33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32D663-7C0E-1A10-97AC-B3620A979EDF}"/>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6" name="Footer Placeholder 5">
            <a:extLst>
              <a:ext uri="{FF2B5EF4-FFF2-40B4-BE49-F238E27FC236}">
                <a16:creationId xmlns:a16="http://schemas.microsoft.com/office/drawing/2014/main" id="{079475D5-B9BA-3DD9-DA4A-F1721B8C08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9893B8-3E8C-049F-28C8-97388C0D34F0}"/>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2069692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ECC45-6179-B059-C453-8A45DAFC70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D5E5EA-B0A7-5437-3657-1F732C9D7E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4AE857-6D9C-92D8-FE92-E37323BAA04D}"/>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5" name="Footer Placeholder 4">
            <a:extLst>
              <a:ext uri="{FF2B5EF4-FFF2-40B4-BE49-F238E27FC236}">
                <a16:creationId xmlns:a16="http://schemas.microsoft.com/office/drawing/2014/main" id="{B076F257-960E-C1DA-553A-34D188FD5B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54CE07-D382-647F-299B-4BFF86A27591}"/>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873711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46172B-130B-BA04-517C-B536A3FFF0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A57863-0B4C-0479-2A39-FA2389085F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09813F-2529-212A-5F5F-9D4C2BE87577}"/>
              </a:ext>
            </a:extLst>
          </p:cNvPr>
          <p:cNvSpPr>
            <a:spLocks noGrp="1"/>
          </p:cNvSpPr>
          <p:nvPr>
            <p:ph type="dt" sz="half" idx="10"/>
          </p:nvPr>
        </p:nvSpPr>
        <p:spPr/>
        <p:txBody>
          <a:bodyPr/>
          <a:lstStyle/>
          <a:p>
            <a:fld id="{2E4CE037-3E5A-4B5B-9AFB-1820DA47F8AB}" type="datetimeFigureOut">
              <a:rPr lang="en-IN" smtClean="0"/>
              <a:t>31-03-2026</a:t>
            </a:fld>
            <a:endParaRPr lang="en-IN"/>
          </a:p>
        </p:txBody>
      </p:sp>
      <p:sp>
        <p:nvSpPr>
          <p:cNvPr id="5" name="Footer Placeholder 4">
            <a:extLst>
              <a:ext uri="{FF2B5EF4-FFF2-40B4-BE49-F238E27FC236}">
                <a16:creationId xmlns:a16="http://schemas.microsoft.com/office/drawing/2014/main" id="{DEE06EA5-AA21-EDE0-3AA0-5C1E14589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0BB67D-51B9-EFDF-012C-862826792090}"/>
              </a:ext>
            </a:extLst>
          </p:cNvPr>
          <p:cNvSpPr>
            <a:spLocks noGrp="1"/>
          </p:cNvSpPr>
          <p:nvPr>
            <p:ph type="sldNum" sz="quarter" idx="12"/>
          </p:nvPr>
        </p:nvSpPr>
        <p:spPr/>
        <p:txBody>
          <a:bodyPr/>
          <a:lstStyle/>
          <a:p>
            <a:fld id="{261DA640-BF05-48BE-B860-8D7D7D08039B}" type="slidenum">
              <a:rPr lang="en-IN" smtClean="0"/>
              <a:t>‹#›</a:t>
            </a:fld>
            <a:endParaRPr lang="en-IN"/>
          </a:p>
        </p:txBody>
      </p:sp>
    </p:spTree>
    <p:extLst>
      <p:ext uri="{BB962C8B-B14F-4D97-AF65-F5344CB8AC3E}">
        <p14:creationId xmlns:p14="http://schemas.microsoft.com/office/powerpoint/2010/main" val="1322739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F9868A-7B63-74C8-AA68-A22870A8BD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D7F7AC-8D80-5468-40A9-5AD5D8AFFE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14423A-3495-EBE3-38E2-4AC69C5A44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4CE037-3E5A-4B5B-9AFB-1820DA47F8AB}" type="datetimeFigureOut">
              <a:rPr lang="en-IN" smtClean="0"/>
              <a:t>31-03-2026</a:t>
            </a:fld>
            <a:endParaRPr lang="en-IN"/>
          </a:p>
        </p:txBody>
      </p:sp>
      <p:sp>
        <p:nvSpPr>
          <p:cNvPr id="5" name="Footer Placeholder 4">
            <a:extLst>
              <a:ext uri="{FF2B5EF4-FFF2-40B4-BE49-F238E27FC236}">
                <a16:creationId xmlns:a16="http://schemas.microsoft.com/office/drawing/2014/main" id="{94F76220-0A5F-0A68-DAF4-CDEDB0F0D3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5505E63-D716-72D2-7116-A8EF7ECAD4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DA640-BF05-48BE-B860-8D7D7D08039B}" type="slidenum">
              <a:rPr lang="en-IN" smtClean="0"/>
              <a:t>‹#›</a:t>
            </a:fld>
            <a:endParaRPr lang="en-IN"/>
          </a:p>
        </p:txBody>
      </p:sp>
    </p:spTree>
    <p:extLst>
      <p:ext uri="{BB962C8B-B14F-4D97-AF65-F5344CB8AC3E}">
        <p14:creationId xmlns:p14="http://schemas.microsoft.com/office/powerpoint/2010/main" val="74829435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C494D-609E-9F69-4955-28C86DDDE15C}"/>
              </a:ext>
            </a:extLst>
          </p:cNvPr>
          <p:cNvSpPr>
            <a:spLocks noGrp="1"/>
          </p:cNvSpPr>
          <p:nvPr>
            <p:ph type="ctrTitle"/>
          </p:nvPr>
        </p:nvSpPr>
        <p:spPr/>
        <p:txBody>
          <a:bodyPr>
            <a:normAutofit/>
          </a:bodyPr>
          <a:lstStyle/>
          <a:p>
            <a:r>
              <a:rPr lang="en-IN" sz="3600" b="1" u="sng" dirty="0">
                <a:solidFill>
                  <a:srgbClr val="FF0000"/>
                </a:solidFill>
                <a:latin typeface="Bahnschrift SemiBold" panose="020B0502040204020203" pitchFamily="34" charset="0"/>
              </a:rPr>
              <a:t>Social-Media Friend Suggestion System </a:t>
            </a:r>
          </a:p>
        </p:txBody>
      </p:sp>
      <p:sp>
        <p:nvSpPr>
          <p:cNvPr id="3" name="Subtitle 2">
            <a:extLst>
              <a:ext uri="{FF2B5EF4-FFF2-40B4-BE49-F238E27FC236}">
                <a16:creationId xmlns:a16="http://schemas.microsoft.com/office/drawing/2014/main" id="{7C48DC24-D789-DBAE-5AA1-C55256A512CE}"/>
              </a:ext>
            </a:extLst>
          </p:cNvPr>
          <p:cNvSpPr>
            <a:spLocks noGrp="1"/>
          </p:cNvSpPr>
          <p:nvPr>
            <p:ph type="subTitle" idx="1"/>
          </p:nvPr>
        </p:nvSpPr>
        <p:spPr/>
        <p:txBody>
          <a:bodyPr>
            <a:normAutofit/>
          </a:bodyPr>
          <a:lstStyle/>
          <a:p>
            <a:r>
              <a:rPr lang="en-IN" sz="2800" dirty="0">
                <a:latin typeface="Bahnschrift SemiBold" panose="020B0502040204020203" pitchFamily="34" charset="0"/>
              </a:rPr>
              <a:t>Hackathon-Project-10</a:t>
            </a:r>
          </a:p>
        </p:txBody>
      </p:sp>
    </p:spTree>
    <p:extLst>
      <p:ext uri="{BB962C8B-B14F-4D97-AF65-F5344CB8AC3E}">
        <p14:creationId xmlns:p14="http://schemas.microsoft.com/office/powerpoint/2010/main" val="3240201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01DD9-95D8-FEEA-B21E-CB47B0DBF917}"/>
              </a:ext>
            </a:extLst>
          </p:cNvPr>
          <p:cNvSpPr>
            <a:spLocks noGrp="1"/>
          </p:cNvSpPr>
          <p:nvPr>
            <p:ph type="title"/>
          </p:nvPr>
        </p:nvSpPr>
        <p:spPr/>
        <p:txBody>
          <a:bodyPr/>
          <a:lstStyle/>
          <a:p>
            <a:r>
              <a:rPr lang="en-IN" b="1" dirty="0">
                <a:latin typeface="Bahnschrift SemiBold" panose="020B0502040204020203" pitchFamily="34" charset="0"/>
              </a:rPr>
              <a:t>Abstract</a:t>
            </a:r>
          </a:p>
        </p:txBody>
      </p:sp>
      <p:sp>
        <p:nvSpPr>
          <p:cNvPr id="3" name="Content Placeholder 2">
            <a:extLst>
              <a:ext uri="{FF2B5EF4-FFF2-40B4-BE49-F238E27FC236}">
                <a16:creationId xmlns:a16="http://schemas.microsoft.com/office/drawing/2014/main" id="{1281881E-C6CF-879A-CF3B-FAB504ACE6EB}"/>
              </a:ext>
            </a:extLst>
          </p:cNvPr>
          <p:cNvSpPr>
            <a:spLocks noGrp="1"/>
          </p:cNvSpPr>
          <p:nvPr>
            <p:ph idx="1"/>
          </p:nvPr>
        </p:nvSpPr>
        <p:spPr/>
        <p:txBody>
          <a:bodyPr>
            <a:normAutofit/>
          </a:bodyPr>
          <a:lstStyle/>
          <a:p>
            <a:r>
              <a:rPr lang="en-US"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This project implements a Social Media Friend Suggestion System using fundamental data structures without relying on built-in collections. It manages user records containing ID, name, interests, and mutual friend count with dynamic insertion using linked lists. Efficient searching and sorting techniques are applied to retrieve and organize user data. Queue and priority queue mechanisms handle normal and urgent processing of friend suggestions. Additional features like undo operations, hashing for fast access, and file handling ensure reliability and persistence of data.</a:t>
            </a:r>
            <a:endParaRPr lang="en-IN"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3930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A779C-38C9-53D0-5D8E-8A45F343D988}"/>
              </a:ext>
            </a:extLst>
          </p:cNvPr>
          <p:cNvSpPr>
            <a:spLocks noGrp="1"/>
          </p:cNvSpPr>
          <p:nvPr>
            <p:ph type="title"/>
          </p:nvPr>
        </p:nvSpPr>
        <p:spPr/>
        <p:txBody>
          <a:bodyPr/>
          <a:lstStyle/>
          <a:p>
            <a:r>
              <a:rPr lang="en-IN" dirty="0">
                <a:latin typeface="Bahnschrift SemiBold" panose="020B0502040204020203" pitchFamily="34" charset="0"/>
              </a:rPr>
              <a:t>Modules</a:t>
            </a:r>
          </a:p>
        </p:txBody>
      </p:sp>
      <p:sp>
        <p:nvSpPr>
          <p:cNvPr id="3" name="Content Placeholder 2">
            <a:extLst>
              <a:ext uri="{FF2B5EF4-FFF2-40B4-BE49-F238E27FC236}">
                <a16:creationId xmlns:a16="http://schemas.microsoft.com/office/drawing/2014/main" id="{4181EBBE-E75A-7415-5503-22A784DE0112}"/>
              </a:ext>
            </a:extLst>
          </p:cNvPr>
          <p:cNvSpPr>
            <a:spLocks noGrp="1"/>
          </p:cNvSpPr>
          <p:nvPr>
            <p:ph idx="1"/>
          </p:nvPr>
        </p:nvSpPr>
        <p:spPr/>
        <p:txBody>
          <a:bodyPr>
            <a:normAutofit fontScale="77500" lnSpcReduction="20000"/>
          </a:bodyPr>
          <a:lstStyle/>
          <a:p>
            <a:pPr marL="0" indent="0">
              <a:buNone/>
            </a:pPr>
            <a:r>
              <a:rPr lang="en-IN" b="1" dirty="0"/>
              <a:t>1. 📂 Registration Module</a:t>
            </a:r>
          </a:p>
          <a:p>
            <a:r>
              <a:rPr lang="en-IN" dirty="0"/>
              <a:t>Linked List + File Handling </a:t>
            </a:r>
          </a:p>
          <a:p>
            <a:r>
              <a:rPr lang="en-IN" dirty="0"/>
              <a:t>Stores user records dynamically </a:t>
            </a:r>
          </a:p>
          <a:p>
            <a:r>
              <a:rPr lang="en-IN" dirty="0"/>
              <a:t>Saves &amp; loads data from file </a:t>
            </a:r>
          </a:p>
          <a:p>
            <a:pPr marL="0" indent="0">
              <a:buNone/>
            </a:pPr>
            <a:r>
              <a:rPr lang="en-IN" b="1" dirty="0"/>
              <a:t>2. 🔍 Search Module</a:t>
            </a:r>
          </a:p>
          <a:p>
            <a:r>
              <a:rPr lang="en-IN" dirty="0"/>
              <a:t>Binary Search → Search by User ID </a:t>
            </a:r>
          </a:p>
          <a:p>
            <a:r>
              <a:rPr lang="en-IN" dirty="0"/>
              <a:t>Linear Search → Search by Name/Interest </a:t>
            </a:r>
          </a:p>
          <a:p>
            <a:pPr marL="0" indent="0">
              <a:buNone/>
            </a:pPr>
            <a:r>
              <a:rPr lang="en-IN" b="1" dirty="0"/>
              <a:t>3. 🔄 Sorting Module</a:t>
            </a:r>
          </a:p>
          <a:p>
            <a:r>
              <a:rPr lang="en-IN" dirty="0"/>
              <a:t>Bubble Sort </a:t>
            </a:r>
          </a:p>
          <a:p>
            <a:r>
              <a:rPr lang="en-IN" dirty="0"/>
              <a:t>Insertion Sort </a:t>
            </a:r>
          </a:p>
          <a:p>
            <a:r>
              <a:rPr lang="en-IN" dirty="0"/>
              <a:t>Quick Sort </a:t>
            </a:r>
          </a:p>
          <a:p>
            <a:r>
              <a:rPr lang="en-IN" dirty="0"/>
              <a:t>Sorts based on priority or time </a:t>
            </a:r>
          </a:p>
          <a:p>
            <a:pPr marL="0" indent="0">
              <a:buNone/>
            </a:pPr>
            <a:endParaRPr lang="en-IN" dirty="0"/>
          </a:p>
        </p:txBody>
      </p:sp>
    </p:spTree>
    <p:extLst>
      <p:ext uri="{BB962C8B-B14F-4D97-AF65-F5344CB8AC3E}">
        <p14:creationId xmlns:p14="http://schemas.microsoft.com/office/powerpoint/2010/main" val="2467822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7026A-4DB6-EFA6-BDD8-E7B9A7F9AAB6}"/>
              </a:ext>
            </a:extLst>
          </p:cNvPr>
          <p:cNvSpPr>
            <a:spLocks noGrp="1"/>
          </p:cNvSpPr>
          <p:nvPr>
            <p:ph type="title"/>
          </p:nvPr>
        </p:nvSpPr>
        <p:spPr>
          <a:xfrm flipV="1">
            <a:off x="4446639" y="-963560"/>
            <a:ext cx="10515600" cy="1112376"/>
          </a:xfrm>
        </p:spPr>
        <p:txBody>
          <a:bodyPr/>
          <a:lstStyle/>
          <a:p>
            <a:endParaRPr lang="en-IN" dirty="0"/>
          </a:p>
        </p:txBody>
      </p:sp>
      <p:sp>
        <p:nvSpPr>
          <p:cNvPr id="3" name="Content Placeholder 2">
            <a:extLst>
              <a:ext uri="{FF2B5EF4-FFF2-40B4-BE49-F238E27FC236}">
                <a16:creationId xmlns:a16="http://schemas.microsoft.com/office/drawing/2014/main" id="{19BAD688-5346-DC68-5A61-DB33B863E383}"/>
              </a:ext>
            </a:extLst>
          </p:cNvPr>
          <p:cNvSpPr>
            <a:spLocks noGrp="1"/>
          </p:cNvSpPr>
          <p:nvPr>
            <p:ph idx="1"/>
          </p:nvPr>
        </p:nvSpPr>
        <p:spPr>
          <a:xfrm>
            <a:off x="838200" y="148816"/>
            <a:ext cx="10515600" cy="6028147"/>
          </a:xfrm>
        </p:spPr>
        <p:txBody>
          <a:bodyPr>
            <a:normAutofit fontScale="77500" lnSpcReduction="20000"/>
          </a:bodyPr>
          <a:lstStyle/>
          <a:p>
            <a:pPr marL="0" indent="0">
              <a:buNone/>
            </a:pPr>
            <a:endParaRPr lang="en-IN" b="1" dirty="0"/>
          </a:p>
          <a:p>
            <a:pPr marL="0" indent="0">
              <a:buNone/>
            </a:pPr>
            <a:r>
              <a:rPr lang="en-IN" b="1" dirty="0"/>
              <a:t>4. 📥 Queue Processing Module</a:t>
            </a:r>
          </a:p>
          <a:p>
            <a:r>
              <a:rPr lang="en-IN" dirty="0"/>
              <a:t>Queue (FIFO for normal records) </a:t>
            </a:r>
          </a:p>
          <a:p>
            <a:r>
              <a:rPr lang="en-IN" dirty="0"/>
              <a:t>Circular Queue (handles overflow cases) </a:t>
            </a:r>
          </a:p>
          <a:p>
            <a:pPr marL="0" indent="0">
              <a:buNone/>
            </a:pPr>
            <a:r>
              <a:rPr lang="en-IN" b="1" dirty="0"/>
              <a:t>5. 🚨 Priority Handling Module</a:t>
            </a:r>
          </a:p>
          <a:p>
            <a:r>
              <a:rPr lang="en-IN" dirty="0"/>
              <a:t>Priority Queue using Heap </a:t>
            </a:r>
          </a:p>
          <a:p>
            <a:r>
              <a:rPr lang="en-IN" dirty="0"/>
              <a:t>Urgent friend suggestions processed first </a:t>
            </a:r>
          </a:p>
          <a:p>
            <a:pPr marL="0" indent="0">
              <a:buNone/>
            </a:pPr>
            <a:r>
              <a:rPr lang="en-IN" b="1" dirty="0"/>
              <a:t>6. ↩️ Undo Module</a:t>
            </a:r>
          </a:p>
          <a:p>
            <a:r>
              <a:rPr lang="en-IN" dirty="0"/>
              <a:t>Stack </a:t>
            </a:r>
          </a:p>
          <a:p>
            <a:r>
              <a:rPr lang="en-IN" dirty="0"/>
              <a:t>Reverts last operation </a:t>
            </a:r>
          </a:p>
          <a:p>
            <a:pPr marL="0" indent="0">
              <a:buNone/>
            </a:pPr>
            <a:r>
              <a:rPr lang="en-IN" b="1" dirty="0"/>
              <a:t>7. ⚡ Fast Access Module</a:t>
            </a:r>
          </a:p>
          <a:p>
            <a:r>
              <a:rPr lang="en-IN" dirty="0"/>
              <a:t>Hashing (Division Method) </a:t>
            </a:r>
          </a:p>
          <a:p>
            <a:r>
              <a:rPr lang="en-IN" dirty="0"/>
              <a:t>Collision Handling: Linear Probing / Chaining </a:t>
            </a:r>
          </a:p>
          <a:p>
            <a:pPr marL="0" indent="0">
              <a:buNone/>
            </a:pPr>
            <a:r>
              <a:rPr lang="en-IN" b="1" dirty="0"/>
              <a:t>8. 💾 File Handling Module</a:t>
            </a:r>
          </a:p>
          <a:p>
            <a:r>
              <a:rPr lang="en-IN" dirty="0"/>
              <a:t>Stores records permanently </a:t>
            </a:r>
          </a:p>
          <a:p>
            <a:r>
              <a:rPr lang="en-IN" dirty="0"/>
              <a:t>Loads data when program restarts</a:t>
            </a:r>
          </a:p>
          <a:p>
            <a:endParaRPr lang="en-IN" dirty="0"/>
          </a:p>
        </p:txBody>
      </p:sp>
    </p:spTree>
    <p:extLst>
      <p:ext uri="{BB962C8B-B14F-4D97-AF65-F5344CB8AC3E}">
        <p14:creationId xmlns:p14="http://schemas.microsoft.com/office/powerpoint/2010/main" val="1484404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1B456-FF22-2B56-9F68-8EC044A611A7}"/>
              </a:ext>
            </a:extLst>
          </p:cNvPr>
          <p:cNvSpPr>
            <a:spLocks noGrp="1"/>
          </p:cNvSpPr>
          <p:nvPr>
            <p:ph type="title"/>
          </p:nvPr>
        </p:nvSpPr>
        <p:spPr/>
        <p:txBody>
          <a:bodyPr/>
          <a:lstStyle/>
          <a:p>
            <a:r>
              <a:rPr lang="en-IN" dirty="0">
                <a:latin typeface="Bahnschrift SemiBold" panose="020B0502040204020203" pitchFamily="34" charset="0"/>
              </a:rPr>
              <a:t>What did we learn?</a:t>
            </a:r>
          </a:p>
        </p:txBody>
      </p:sp>
      <p:sp>
        <p:nvSpPr>
          <p:cNvPr id="3" name="Content Placeholder 2">
            <a:extLst>
              <a:ext uri="{FF2B5EF4-FFF2-40B4-BE49-F238E27FC236}">
                <a16:creationId xmlns:a16="http://schemas.microsoft.com/office/drawing/2014/main" id="{3CF1C2A0-00D1-EB3A-F701-9BF317640499}"/>
              </a:ext>
            </a:extLst>
          </p:cNvPr>
          <p:cNvSpPr>
            <a:spLocks noGrp="1"/>
          </p:cNvSpPr>
          <p:nvPr>
            <p:ph idx="1"/>
          </p:nvPr>
        </p:nvSpPr>
        <p:spPr>
          <a:xfrm>
            <a:off x="838200" y="1553497"/>
            <a:ext cx="10515600" cy="4623466"/>
          </a:xfrm>
        </p:spPr>
        <p:txBody>
          <a:bodyPr>
            <a:normAutofit fontScale="70000" lnSpcReduction="20000"/>
          </a:bodyPr>
          <a:lstStyle/>
          <a:p>
            <a:pPr marL="0" indent="0">
              <a:buNone/>
            </a:pPr>
            <a:r>
              <a:rPr lang="en-US" b="1" dirty="0"/>
              <a:t>🧠 Core Data Structures Mastery</a:t>
            </a:r>
          </a:p>
          <a:p>
            <a:r>
              <a:rPr lang="en-US" dirty="0"/>
              <a:t>You didn’t just study Linked Lists, Stacks, Queues, Heaps, and Hashing… you </a:t>
            </a:r>
            <a:r>
              <a:rPr lang="en-US" i="1" dirty="0"/>
              <a:t>made them work together</a:t>
            </a:r>
            <a:r>
              <a:rPr lang="en-US" dirty="0"/>
              <a:t> like a squad. Each structure had a real purpose instead of just theory.</a:t>
            </a:r>
          </a:p>
          <a:p>
            <a:pPr marL="0" indent="0">
              <a:buNone/>
            </a:pPr>
            <a:endParaRPr lang="en-US" dirty="0"/>
          </a:p>
          <a:p>
            <a:pPr marL="0" indent="0">
              <a:buNone/>
            </a:pPr>
            <a:r>
              <a:rPr lang="en-US" b="1" dirty="0"/>
              <a:t>🔍 Algorithm Thinking</a:t>
            </a:r>
          </a:p>
          <a:p>
            <a:r>
              <a:rPr lang="en-US" dirty="0"/>
              <a:t>Searching (Linear &amp; Binary) and Sorting (Bubble, Insertion, Quick) stopped being textbook rituals and became decision tools—</a:t>
            </a:r>
            <a:r>
              <a:rPr lang="en-US" i="1" dirty="0"/>
              <a:t>when to use what</a:t>
            </a:r>
            <a:r>
              <a:rPr lang="en-US" dirty="0"/>
              <a:t> depending on the situation.</a:t>
            </a:r>
          </a:p>
          <a:p>
            <a:pPr marL="0" indent="0">
              <a:buNone/>
            </a:pPr>
            <a:endParaRPr lang="en-US" b="1" dirty="0"/>
          </a:p>
          <a:p>
            <a:pPr marL="0" indent="0">
              <a:buNone/>
            </a:pPr>
            <a:r>
              <a:rPr lang="en-US" b="1" dirty="0"/>
              <a:t>⚙️ System Design Skills</a:t>
            </a:r>
          </a:p>
          <a:p>
            <a:r>
              <a:rPr lang="en-US" dirty="0"/>
              <a:t>You learned how to break a big problem into modules (registration, search, processing, etc.), like designing different rooms in a smart house that all connect smoothly.</a:t>
            </a:r>
          </a:p>
          <a:p>
            <a:pPr marL="0" indent="0">
              <a:buNone/>
            </a:pPr>
            <a:endParaRPr lang="en-US" b="1" dirty="0"/>
          </a:p>
          <a:p>
            <a:pPr marL="0" indent="0">
              <a:buNone/>
            </a:pPr>
            <a:r>
              <a:rPr lang="en-US" b="1" dirty="0"/>
              <a:t>💾 Data Persistence</a:t>
            </a:r>
          </a:p>
          <a:p>
            <a:r>
              <a:rPr lang="en-US" dirty="0"/>
              <a:t>File handling taught you that programs shouldn’t “forget” everything after closing—your system remembers users like a proper app.</a:t>
            </a:r>
          </a:p>
          <a:p>
            <a:pPr marL="0" indent="0">
              <a:buNone/>
            </a:pPr>
            <a:endParaRPr lang="en-US" dirty="0"/>
          </a:p>
        </p:txBody>
      </p:sp>
    </p:spTree>
    <p:extLst>
      <p:ext uri="{BB962C8B-B14F-4D97-AF65-F5344CB8AC3E}">
        <p14:creationId xmlns:p14="http://schemas.microsoft.com/office/powerpoint/2010/main" val="2589253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07331-0179-CED9-DBF6-5E1932D369EE}"/>
              </a:ext>
            </a:extLst>
          </p:cNvPr>
          <p:cNvSpPr>
            <a:spLocks noGrp="1"/>
          </p:cNvSpPr>
          <p:nvPr>
            <p:ph type="title"/>
          </p:nvPr>
        </p:nvSpPr>
        <p:spPr>
          <a:xfrm flipV="1">
            <a:off x="838200" y="-707922"/>
            <a:ext cx="10515600" cy="1073048"/>
          </a:xfrm>
        </p:spPr>
        <p:txBody>
          <a:bodyPr/>
          <a:lstStyle/>
          <a:p>
            <a:endParaRPr lang="en-IN" dirty="0"/>
          </a:p>
        </p:txBody>
      </p:sp>
      <p:sp>
        <p:nvSpPr>
          <p:cNvPr id="3" name="Content Placeholder 2">
            <a:extLst>
              <a:ext uri="{FF2B5EF4-FFF2-40B4-BE49-F238E27FC236}">
                <a16:creationId xmlns:a16="http://schemas.microsoft.com/office/drawing/2014/main" id="{B7816234-7CD0-530A-4572-8B59FBFF5103}"/>
              </a:ext>
            </a:extLst>
          </p:cNvPr>
          <p:cNvSpPr>
            <a:spLocks noGrp="1"/>
          </p:cNvSpPr>
          <p:nvPr>
            <p:ph idx="1"/>
          </p:nvPr>
        </p:nvSpPr>
        <p:spPr>
          <a:xfrm>
            <a:off x="838200" y="776748"/>
            <a:ext cx="10515600" cy="5400215"/>
          </a:xfrm>
        </p:spPr>
        <p:txBody>
          <a:bodyPr>
            <a:normAutofit fontScale="92500" lnSpcReduction="10000"/>
          </a:bodyPr>
          <a:lstStyle/>
          <a:p>
            <a:pPr marL="0" indent="0">
              <a:buNone/>
            </a:pPr>
            <a:r>
              <a:rPr lang="en-US" b="1" dirty="0"/>
              <a:t>🚀 Efficiency &amp; Optimization</a:t>
            </a:r>
          </a:p>
          <a:p>
            <a:r>
              <a:rPr lang="en-US" dirty="0"/>
              <a:t>Using hashing for fast access and priority queues for urgent tasks showed how systems can be optimized for speed and real-world performance.</a:t>
            </a:r>
          </a:p>
          <a:p>
            <a:pPr marL="0" indent="0">
              <a:buNone/>
            </a:pPr>
            <a:endParaRPr lang="en-US" b="1" dirty="0"/>
          </a:p>
          <a:p>
            <a:pPr marL="0" indent="0">
              <a:buNone/>
            </a:pPr>
            <a:r>
              <a:rPr lang="en-US" b="1" dirty="0"/>
              <a:t>🧩 Problem-Solving Without Shortcuts</a:t>
            </a:r>
          </a:p>
          <a:p>
            <a:r>
              <a:rPr lang="en-US" dirty="0"/>
              <a:t>Since you avoided Java Collection Framework, you built everything from scratch—this sharpened your logic, pointer handling, and debugging skills.</a:t>
            </a:r>
            <a:br>
              <a:rPr lang="en-US" dirty="0"/>
            </a:br>
            <a:endParaRPr lang="en-US" dirty="0"/>
          </a:p>
          <a:p>
            <a:pPr marL="0" indent="0">
              <a:buNone/>
            </a:pPr>
            <a:r>
              <a:rPr lang="en-US" b="1" dirty="0"/>
              <a:t>🔄 Real-World Simulation</a:t>
            </a:r>
          </a:p>
          <a:p>
            <a:r>
              <a:rPr lang="en-US" dirty="0"/>
              <a:t>You understood how actual platforms suggest friends, manage queues, and prioritize actions—this project is basically a simplified social media brain.</a:t>
            </a:r>
          </a:p>
          <a:p>
            <a:pPr marL="0" indent="0">
              <a:buNone/>
            </a:pPr>
            <a:endParaRPr lang="en-IN" dirty="0"/>
          </a:p>
        </p:txBody>
      </p:sp>
    </p:spTree>
    <p:extLst>
      <p:ext uri="{BB962C8B-B14F-4D97-AF65-F5344CB8AC3E}">
        <p14:creationId xmlns:p14="http://schemas.microsoft.com/office/powerpoint/2010/main" val="240976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03AE-886E-36C0-F277-9F8EEFC3D4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5E5BDB-517C-C3A6-427C-DE3ED77C216C}"/>
              </a:ext>
            </a:extLst>
          </p:cNvPr>
          <p:cNvSpPr>
            <a:spLocks noGrp="1"/>
          </p:cNvSpPr>
          <p:nvPr>
            <p:ph idx="1"/>
          </p:nvPr>
        </p:nvSpPr>
        <p:spPr>
          <a:xfrm>
            <a:off x="3736258" y="2841524"/>
            <a:ext cx="7617542" cy="2821858"/>
          </a:xfrm>
        </p:spPr>
        <p:txBody>
          <a:bodyPr>
            <a:normAutofit/>
          </a:bodyPr>
          <a:lstStyle/>
          <a:p>
            <a:pPr marL="0" indent="0">
              <a:buNone/>
            </a:pPr>
            <a:r>
              <a:rPr lang="en-IN" sz="8000" u="sng" dirty="0">
                <a:latin typeface="Bahnschrift SemiLight Condensed" panose="020B0502040204020203" pitchFamily="34" charset="0"/>
              </a:rPr>
              <a:t>Thank you!!</a:t>
            </a:r>
          </a:p>
        </p:txBody>
      </p:sp>
    </p:spTree>
    <p:extLst>
      <p:ext uri="{BB962C8B-B14F-4D97-AF65-F5344CB8AC3E}">
        <p14:creationId xmlns:p14="http://schemas.microsoft.com/office/powerpoint/2010/main" val="3779048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TotalTime>
  <Words>462</Words>
  <Application>Microsoft Office PowerPoint</Application>
  <PresentationFormat>Widescreen</PresentationFormat>
  <Paragraphs>53</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Aptos Display</vt:lpstr>
      <vt:lpstr>Arial</vt:lpstr>
      <vt:lpstr>Bahnschrift SemiBold</vt:lpstr>
      <vt:lpstr>Bahnschrift SemiLight Condensed</vt:lpstr>
      <vt:lpstr>Calibri</vt:lpstr>
      <vt:lpstr>Office Theme</vt:lpstr>
      <vt:lpstr>Social-Media Friend Suggestion System </vt:lpstr>
      <vt:lpstr>Abstract</vt:lpstr>
      <vt:lpstr>Modules</vt:lpstr>
      <vt:lpstr>PowerPoint Presentation</vt:lpstr>
      <vt:lpstr>What did we learn?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Anvith Kumar Tammiraju</dc:creator>
  <cp:lastModifiedBy>Anvith Kumar Tammiraju</cp:lastModifiedBy>
  <cp:revision>1</cp:revision>
  <dcterms:created xsi:type="dcterms:W3CDTF">2026-03-31T12:26:22Z</dcterms:created>
  <dcterms:modified xsi:type="dcterms:W3CDTF">2026-03-31T12:32:01Z</dcterms:modified>
</cp:coreProperties>
</file>